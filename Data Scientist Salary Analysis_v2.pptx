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ans Narrow"/>
      <p:regular r:id="rId13"/>
      <p:bold r:id="rId14"/>
    </p:embeddedFont>
    <p:embeddedFont>
      <p:font typeface="DM Sans Light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Light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DMSansLight-italic.fntdata"/><Relationship Id="rId16" Type="http://schemas.openxmlformats.org/officeDocument/2006/relationships/font" Target="fonts/DMSansL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DMSans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3fe9386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3fe9386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577a714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577a714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577a714b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577a714b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3fe9386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3fe9386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577a714b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577a714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577a714b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577a714b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577a714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577a714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61975" y="90650"/>
            <a:ext cx="8621700" cy="7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Scientist</a:t>
            </a:r>
            <a:r>
              <a:rPr lang="en"/>
              <a:t> Salary Analysis</a:t>
            </a:r>
            <a:endParaRPr/>
          </a:p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Alexis Root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02/16/2026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542475" y="871250"/>
            <a:ext cx="7946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Cost Efficiency Insights for Hiring</a:t>
            </a:r>
            <a:r>
              <a:rPr lang="en" sz="1800">
                <a:latin typeface="DM Sans Light"/>
                <a:ea typeface="DM Sans Light"/>
                <a:cs typeface="DM Sans Light"/>
                <a:sym typeface="DM Sans Light"/>
              </a:rPr>
              <a:t>  </a:t>
            </a:r>
            <a:r>
              <a:rPr lang="en" sz="1800"/>
              <a:t>Full Time Data Scientist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Employee location, company size, onsite versus remote, and experience level analyzed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72" y="2205350"/>
            <a:ext cx="4514875" cy="278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05350"/>
            <a:ext cx="4572000" cy="282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8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Scientist Grouping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8275"/>
            <a:ext cx="6615689" cy="40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6768100" y="1124350"/>
            <a:ext cx="2133300" cy="3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Grouped like job titles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together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for data scientists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ide range in salary and array of skills when not grouped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8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Ranges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900" y="1610125"/>
            <a:ext cx="5478443" cy="33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05575" y="902725"/>
            <a:ext cx="82575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Senior offshore hiring cost is in the same range as entry-mid level US hiring range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76875" y="1152425"/>
            <a:ext cx="7818900" cy="14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Offshore employees cheaper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Opportunity</a:t>
            </a:r>
            <a:r>
              <a:rPr lang="en"/>
              <a:t> to hire more experienced employee at lower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Salary range not heavily impacted by remote ratio or </a:t>
            </a:r>
            <a:r>
              <a:rPr lang="en"/>
              <a:t>company</a:t>
            </a:r>
            <a:r>
              <a:rPr lang="en"/>
              <a:t>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Salary Ranges </a:t>
            </a:r>
            <a:r>
              <a:rPr lang="en"/>
              <a:t>calculated </a:t>
            </a:r>
            <a:r>
              <a:rPr lang="en"/>
              <a:t>using 95% confidence interval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625" y="2761950"/>
            <a:ext cx="7818875" cy="21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11755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00" y="1073750"/>
            <a:ext cx="7968500" cy="38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255000" y="601250"/>
            <a:ext cx="79335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Job title salary ranges when not grouped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8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200" y="1972675"/>
            <a:ext cx="4451875" cy="2988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396150" y="848625"/>
            <a:ext cx="81774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Contractors have significantly higher salary ranges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84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193575" y="961175"/>
            <a:ext cx="51774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Welch Two Sample t-test Results for Mid Level Employees</a:t>
            </a:r>
            <a:endParaRPr b="1" sz="12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t-statistic Mid Level: 7.798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p-value Mid Level: 1.645e-10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 Domestic Mid Level Salary:</a:t>
            </a: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$126,052.08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 Offshore Mid Level Salary:</a:t>
            </a: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$59,433.40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120525" y="2930775"/>
            <a:ext cx="5323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Welch Two Sample t-test Results for Senior Level Employees</a:t>
            </a:r>
            <a:endParaRPr b="1" sz="12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t-statistic Senior Level: 5.409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p-value Senior Level: 1.228e-05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 Domestic Senior Level Salary:</a:t>
            </a: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$173,221.05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Mean Offshore Senior Level Salary:</a:t>
            </a:r>
            <a:r>
              <a:rPr lang="en" sz="10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$96,421.36</a:t>
            </a:r>
            <a:endParaRPr sz="10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5550925" y="961175"/>
            <a:ext cx="3444000" cy="3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There is a very small chance that there is not a difference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between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offshore versus US employees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Significant difference shown between salary ranges of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two groups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